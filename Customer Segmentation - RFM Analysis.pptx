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8" r:id="rId3"/>
    <p:sldId id="261" r:id="rId4"/>
    <p:sldId id="262" r:id="rId5"/>
    <p:sldId id="260" r:id="rId6"/>
    <p:sldId id="265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New Customers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589</c:v>
                </c:pt>
                <c:pt idx="1">
                  <c:v>141</c:v>
                </c:pt>
                <c:pt idx="2">
                  <c:v>52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F7-4BE4-9985-140FEC467D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46075776"/>
        <c:axId val="1246070016"/>
      </c:barChart>
      <c:catAx>
        <c:axId val="12460757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6070016"/>
        <c:crosses val="autoZero"/>
        <c:auto val="1"/>
        <c:lblAlgn val="ctr"/>
        <c:lblOffset val="100"/>
        <c:noMultiLvlLbl val="0"/>
      </c:catAx>
      <c:valAx>
        <c:axId val="124607001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246075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Sheet1!$B$2:$B$5</c:f>
              <c:numCache>
                <c:formatCode>[&gt;=1000000]\$0,"M";[&gt;=1000]\$0,"K";\$0</c:formatCode>
                <c:ptCount val="4"/>
                <c:pt idx="0">
                  <c:v>479856.20809999999</c:v>
                </c:pt>
                <c:pt idx="1">
                  <c:v>459436.00540000002</c:v>
                </c:pt>
                <c:pt idx="2">
                  <c:v>600192.55000000005</c:v>
                </c:pt>
                <c:pt idx="3">
                  <c:v>722052.01919999998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ED-4577-BC31-D2DE4DB42D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46083936"/>
        <c:axId val="1246088256"/>
      </c:barChart>
      <c:catAx>
        <c:axId val="1246083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6088256"/>
        <c:crosses val="autoZero"/>
        <c:auto val="1"/>
        <c:lblAlgn val="ctr"/>
        <c:lblOffset val="100"/>
        <c:noMultiLvlLbl val="0"/>
      </c:catAx>
      <c:valAx>
        <c:axId val="1246088256"/>
        <c:scaling>
          <c:orientation val="minMax"/>
        </c:scaling>
        <c:delete val="1"/>
        <c:axPos val="l"/>
        <c:numFmt formatCode="[&gt;=1000000]\$0,&quot;M&quot;;[&gt;=1000]\$0,&quot;K&quot;;\$0" sourceLinked="1"/>
        <c:majorTickMark val="none"/>
        <c:minorTickMark val="none"/>
        <c:tickLblPos val="nextTo"/>
        <c:crossAx val="1246083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Customers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C91-40B7-9879-18C5722DFFEA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C91-40B7-9879-18C5722DFFEA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C91-40B7-9879-18C5722DFFEA}"/>
              </c:ext>
            </c:extLst>
          </c:dPt>
          <c:dPt>
            <c:idx val="4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C91-40B7-9879-18C5722DFFE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Champions</c:v>
                </c:pt>
                <c:pt idx="1">
                  <c:v>Lost</c:v>
                </c:pt>
                <c:pt idx="2">
                  <c:v>New Customer</c:v>
                </c:pt>
                <c:pt idx="3">
                  <c:v>At Risk</c:v>
                </c:pt>
                <c:pt idx="4">
                  <c:v>Loyal Customers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</c:v>
                </c:pt>
                <c:pt idx="1">
                  <c:v>59</c:v>
                </c:pt>
                <c:pt idx="2">
                  <c:v>68</c:v>
                </c:pt>
                <c:pt idx="3">
                  <c:v>98</c:v>
                </c:pt>
                <c:pt idx="4">
                  <c:v>142</c:v>
                </c:pt>
                <c:pt idx="5">
                  <c:v>274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91-40B7-9879-18C5722DFFE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989538320"/>
        <c:axId val="989556560"/>
      </c:barChart>
      <c:catAx>
        <c:axId val="9895383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9556560"/>
        <c:crosses val="autoZero"/>
        <c:auto val="1"/>
        <c:lblAlgn val="ctr"/>
        <c:lblOffset val="100"/>
        <c:noMultiLvlLbl val="0"/>
      </c:catAx>
      <c:valAx>
        <c:axId val="9895565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89538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7220897891111677E-2"/>
          <c:y val="0.18584121747410029"/>
          <c:w val="0.91745903210499336"/>
          <c:h val="0.555538144376933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Below Average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366</c:v>
                </c:pt>
                <c:pt idx="1">
                  <c:v>297</c:v>
                </c:pt>
                <c:pt idx="2">
                  <c:v>680</c:v>
                </c:pt>
                <c:pt idx="3">
                  <c:v>657</c:v>
                </c:pt>
                <c:pt idx="4">
                  <c:v>725</c:v>
                </c:pt>
                <c:pt idx="5">
                  <c:v>691</c:v>
                </c:pt>
                <c:pt idx="6">
                  <c:v>697</c:v>
                </c:pt>
                <c:pt idx="7">
                  <c:v>693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91-4539-987D-883D7F9CA5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Above Average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8">
                  <c:v>1354</c:v>
                </c:pt>
                <c:pt idx="9">
                  <c:v>809</c:v>
                </c:pt>
                <c:pt idx="10">
                  <c:v>1449</c:v>
                </c:pt>
                <c:pt idx="11">
                  <c:v>1382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91-4539-987D-883D7F9CA5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33594432"/>
        <c:axId val="1346851344"/>
      </c:barChart>
      <c:catAx>
        <c:axId val="1133594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6851344"/>
        <c:crosses val="autoZero"/>
        <c:auto val="1"/>
        <c:lblAlgn val="ctr"/>
        <c:lblOffset val="100"/>
        <c:noMultiLvlLbl val="0"/>
      </c:catAx>
      <c:valAx>
        <c:axId val="13468513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594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Orders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D92-4B4D-B2EB-577B26D1DBB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D92-4B4D-B2EB-577B26D1DBB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D92-4B4D-B2EB-577B26D1DBB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677</c:v>
                </c:pt>
                <c:pt idx="1">
                  <c:v>1970</c:v>
                </c:pt>
                <c:pt idx="2">
                  <c:v>611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B3-4CD2-A757-4A82BD260FC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4E9-4C12-B386-1BCCDD829B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4E9-4C12-B386-1BCCDD829BA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4E9-4C12-B386-1BCCDD829BA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212313.78719999999</c:v>
                </c:pt>
                <c:pt idx="1">
                  <c:v>240367.541</c:v>
                </c:pt>
                <c:pt idx="2">
                  <c:v>269370.69099999999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A0-4465-85E5-9EA7DCB7C8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430E4-369C-94F5-0C66-179FAB350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86D03-9906-E8B2-B16C-FE237C525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D71B4-A5D2-37F1-318D-847764015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B611-5A1D-40D0-B0E5-A5E69B4CB37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10587-1A8E-81C4-8A2E-B2E3AC52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D0E3A-2803-C16C-562A-0BE856E3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FCA9-9078-45B6-B2A0-2FBAA7CDE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447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75AC-1E99-C905-0D70-8F8B98F7A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F90D8-D984-5EC9-8C8D-E008C701D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B8C7E-877A-C5F8-9E2C-7713EF98A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B611-5A1D-40D0-B0E5-A5E69B4CB37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4029-12D4-30BF-320E-C2EE0928F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10440-B2EC-AB74-0C31-0ABE72C4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FCA9-9078-45B6-B2A0-2FBAA7CDE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484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95BC0-F2F1-3E42-4BAE-3EECEAC64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7F320-7C81-C08E-4380-A8474048E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EB3CD-0011-6A5C-19EF-70524EA51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B611-5A1D-40D0-B0E5-A5E69B4CB37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CF562-3CF2-ED8B-18B7-DB4E63644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62F9E-E6CD-6B65-8FB1-CAB30059A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FCA9-9078-45B6-B2A0-2FBAA7CDE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382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4F483-B12D-520C-2A2E-9C40794C9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DE783-97F6-E592-11C4-6F98B96886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487AC-ED3E-AA53-363C-18EB6ADD0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C9D7B-7697-8B50-8748-952BE462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B611-5A1D-40D0-B0E5-A5E69B4CB37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38132-B661-2FB5-9FA7-0FB2442D8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53292-B69B-7424-818E-1C1248F2B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FCA9-9078-45B6-B2A0-2FBAA7CDE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147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D4296-009E-EA58-C8F7-C24AF1721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DBFBA-E3D0-ADEB-F49E-D8780C329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DD39A-CA27-A00D-80B4-DB3395F4D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99021-5236-2505-C44D-B3FC17CAB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589A62-35AE-A06C-C5A5-0E2A7E2C4A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F0917E-F4F4-B586-F103-50300A85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B611-5A1D-40D0-B0E5-A5E69B4CB37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B31E77-21F9-616C-546C-4004B2503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10CCBA-1A66-E284-52EB-D98B7FCF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FCA9-9078-45B6-B2A0-2FBAA7CDE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103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911B-6091-F6D5-3827-7885FE388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E74A4-C999-07B5-18E8-404CA4901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B611-5A1D-40D0-B0E5-A5E69B4CB37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EA325-1582-4BAC-02A7-40F7DA4B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260C8-9D81-A42E-3E84-24862627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FCA9-9078-45B6-B2A0-2FBAA7CDE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799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919124-1CB2-C96F-B9FD-E5514D046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B611-5A1D-40D0-B0E5-A5E69B4CB37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787DF5-5A79-A1E2-4C03-EA0CC4012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71E7E-4FA1-FA36-CB4E-59BF6860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FCA9-9078-45B6-B2A0-2FBAA7CDE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01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A9CD6-8B7B-0BFE-753E-22FA72A72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0F511-E648-73B4-A745-B6D24A2D4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8A193-0465-4EBD-E9B9-63A0701AD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B9819-DBB6-5AFA-5CBA-5F915AF2E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B611-5A1D-40D0-B0E5-A5E69B4CB37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24EFC-D9A2-2DB1-ED4A-980E8EFB7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A3B48-C201-7610-B12A-1863B095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FCA9-9078-45B6-B2A0-2FBAA7CDE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614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66912-99F5-53EF-64F9-DE9BFECEA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1EEBA1-C896-B56B-69FD-5A1D1BF95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B5FA9-15EC-AD83-548B-555602B73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0DECA-0261-F845-3636-0C1251050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B611-5A1D-40D0-B0E5-A5E69B4CB37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0547D-D233-33E6-9584-7E470553D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BDD4C-03CB-3D5A-1834-C7B8E5A94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FCA9-9078-45B6-B2A0-2FBAA7CDE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726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49994-442A-9190-B7BF-AFE3016F7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1A7EB-5314-13CA-A8EB-0AA963A1B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04D2C-9C1C-BD26-CDBE-1C25F9264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B611-5A1D-40D0-B0E5-A5E69B4CB37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54106-E52C-2149-E47C-3D2F07E78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F733D-3350-A3F3-FA8E-7F812113E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FCA9-9078-45B6-B2A0-2FBAA7CDE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574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6A3485-7BBF-1A2A-69B1-CB8016CE6C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4101AF-666D-7221-85BF-321DC2691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285DC-E84D-8C08-39F4-C0E2501C8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B611-5A1D-40D0-B0E5-A5E69B4CB37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07E00-D7AE-51F9-680F-753652D39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9FAB0-58D0-D372-C08B-2A4ABF374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FCA9-9078-45B6-B2A0-2FBAA7CDE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970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4FFB84-78A2-064E-20D3-97BD5EF45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0725-75B1-054B-D119-08E50F2D2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C5F3B-A706-5E23-728A-4CE65B3FD5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9B611-5A1D-40D0-B0E5-A5E69B4CB37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71AA2-CDA1-E214-A24D-6380811CE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CAD03-6E82-06FD-7CF1-B43BD7824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1FCA9-9078-45B6-B2A0-2FBAA7CDE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58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751A6-94E4-313E-CDB3-C1426C99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607" y="1553497"/>
            <a:ext cx="7292099" cy="2008727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- RFM analysis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Strategic RFM Audit of Customer Health, Retention and Future Revenue Risk</a:t>
            </a:r>
            <a:br>
              <a:rPr lang="en-US" sz="2400" dirty="0"/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064DD-CAFF-1FB7-95A1-EDE6E2F5F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608" y="3738209"/>
            <a:ext cx="9144000" cy="1655762"/>
          </a:xfrm>
        </p:spPr>
        <p:txBody>
          <a:bodyPr/>
          <a:lstStyle/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Gundeti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Sailikith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A33236-C45D-AFF2-D4C1-7AA3A307E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558" y="1270314"/>
            <a:ext cx="4404294" cy="329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400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DE11-37C9-1281-C911-E70657115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Challenge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03DA4-D3DC-B877-E241-13AD25BD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store's sales are growing and total orders look healthy but the customer base is quietly shrinking. New customers are becoming rare, and a large portion of existing customers are either disengaged or slowly drifting away. The stakeholders noticed the numbers don't add up - revenue is up, but something underneath feels off. They want to know why.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To understand the real health of the customer base – who the best customers are, who is performing normally, and who is at risk of leaving. Using RFM segmentation across 4 years of transaction data, this analysis breaks down customer behavior patterns to give stakeholders a clear picture of where they stand today and what needs to change before it is too late.</a:t>
            </a:r>
          </a:p>
        </p:txBody>
      </p:sp>
    </p:spTree>
    <p:extLst>
      <p:ext uri="{BB962C8B-B14F-4D97-AF65-F5344CB8AC3E}">
        <p14:creationId xmlns:p14="http://schemas.microsoft.com/office/powerpoint/2010/main" val="19115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89092-67E8-9795-37E7-D291A571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84" y="533664"/>
            <a:ext cx="10515600" cy="85349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A3F9D-C5DC-5325-3C35-0ED7D4BE6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4" y="138715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acquisition is declining every year. Growth pipeline is weakening, risking long‑term sustainability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a referral program to unlock new customer inflow and diversify acquisition channels.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B5AFD8E5-F834-6227-8445-96DD333D5A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2733614"/>
              </p:ext>
            </p:extLst>
          </p:nvPr>
        </p:nvGraphicFramePr>
        <p:xfrm>
          <a:off x="3257755" y="2792361"/>
          <a:ext cx="5361858" cy="3305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00670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21337-78C9-80CE-6C45-D8916C7F8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785249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2F63-30E8-3654-F5D3-C654D714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28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growth remains resilient, powered by loyal repeat customers despite declining customer acquisition, but 53.91% of total revenue is coming from Others and At Risk customers. This is a warning sign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personalized “We Miss You” campaigns to re‑engage At‑Risk customers and stabilize retention.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727902B-32E6-C1E7-5867-9544377F7D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5309959"/>
              </p:ext>
            </p:extLst>
          </p:nvPr>
        </p:nvGraphicFramePr>
        <p:xfrm>
          <a:off x="1011904" y="3629863"/>
          <a:ext cx="4592483" cy="2547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513DDE8-A603-FC1C-C9F6-0BCD4F26EA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4143015"/>
              </p:ext>
            </p:extLst>
          </p:nvPr>
        </p:nvGraphicFramePr>
        <p:xfrm>
          <a:off x="6213987" y="3629863"/>
          <a:ext cx="4966109" cy="2819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70462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52137-F9CC-0297-08E8-E779F582C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C88D7-9B5C-23E5-26D7-EF2C1BC60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consistently peak between Sept–Dec every year, overshadowing other months.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marketing to August Pre‑Season campaigns to capture early intent and smooth demand curve.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4C4EBF4-4675-A8F7-B680-E812167B4F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4295468"/>
              </p:ext>
            </p:extLst>
          </p:nvPr>
        </p:nvGraphicFramePr>
        <p:xfrm>
          <a:off x="1450258" y="3175819"/>
          <a:ext cx="9291483" cy="36821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75222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90EBC-D4E5-F28A-9C3F-2FB8F3EE2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2AB29-18F4-0AE6-056E-3EE7A751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76341-7F55-3D99-1128-5F5452321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hardware buyers deliver the highest spend, but order volumes remain low.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60‑day Post‑Purchase journey tailored for Tech hardware customers to drive repeat orders.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748FF30-07EC-6FF4-6C6B-48E9993EB9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9815025"/>
              </p:ext>
            </p:extLst>
          </p:nvPr>
        </p:nvGraphicFramePr>
        <p:xfrm>
          <a:off x="1392902" y="3462289"/>
          <a:ext cx="5037394" cy="2709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995F8491-DA3D-13C3-6A52-F25D721BF0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5122024"/>
              </p:ext>
            </p:extLst>
          </p:nvPr>
        </p:nvGraphicFramePr>
        <p:xfrm>
          <a:off x="6095999" y="3456948"/>
          <a:ext cx="5036400" cy="2709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35FB8DA7-8DFC-C4CE-76A1-9DD7DF394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8" y="6226163"/>
            <a:ext cx="2924583" cy="17147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B208032-611C-7883-33D1-04BA9E7B3F38}"/>
              </a:ext>
            </a:extLst>
          </p:cNvPr>
          <p:cNvSpPr txBox="1"/>
          <p:nvPr/>
        </p:nvSpPr>
        <p:spPr>
          <a:xfrm>
            <a:off x="5304502" y="6439943"/>
            <a:ext cx="1582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Categories</a:t>
            </a:r>
          </a:p>
        </p:txBody>
      </p:sp>
    </p:spTree>
    <p:extLst>
      <p:ext uri="{BB962C8B-B14F-4D97-AF65-F5344CB8AC3E}">
        <p14:creationId xmlns:p14="http://schemas.microsoft.com/office/powerpoint/2010/main" val="1835310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33039-3675-8518-3BDB-54190ADF4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DF929-D162-7EEE-7997-C32FE634F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referral program to reignite new customer growth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“We Miss You” campaigns to re‑engage At‑Risk customers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marketing to August Pre‑Season campaigns to capture early demand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60‑day Post‑Purchase journey for Tech hardware buyers to drive repeat orders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006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169</TotalTime>
  <Words>380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Customer segmentation - RFM analysis A Strategic RFM Audit of Customer Health, Retention and Future Revenue Risk  </vt:lpstr>
      <vt:lpstr>Business Challenge</vt:lpstr>
      <vt:lpstr>Key Findings</vt:lpstr>
      <vt:lpstr>Key Findings</vt:lpstr>
      <vt:lpstr>Key Findings</vt:lpstr>
      <vt:lpstr>Key Findings</vt:lpstr>
      <vt:lpstr>Strategic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Likith</dc:creator>
  <cp:lastModifiedBy>Sai Likith</cp:lastModifiedBy>
  <cp:revision>9</cp:revision>
  <dcterms:created xsi:type="dcterms:W3CDTF">2026-04-12T11:32:51Z</dcterms:created>
  <dcterms:modified xsi:type="dcterms:W3CDTF">2026-05-11T06:35:02Z</dcterms:modified>
</cp:coreProperties>
</file>